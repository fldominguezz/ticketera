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7170-3A8E-CBB7-A32D-17AAE9155B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AR" dirty="0"/>
              <a:t>Requisitos, creación e instalación </a:t>
            </a:r>
            <a:r>
              <a:rPr lang="es-AR" dirty="0" err="1"/>
              <a:t>eset</a:t>
            </a:r>
            <a:r>
              <a:rPr lang="es-AR" dirty="0"/>
              <a:t> cloud</a:t>
            </a:r>
          </a:p>
        </p:txBody>
      </p:sp>
    </p:spTree>
    <p:extLst>
      <p:ext uri="{BB962C8B-B14F-4D97-AF65-F5344CB8AC3E}">
        <p14:creationId xmlns:p14="http://schemas.microsoft.com/office/powerpoint/2010/main" val="3329469480"/>
      </p:ext>
    </p:extLst>
  </p:cSld>
  <p:clrMapOvr>
    <a:masterClrMapping/>
  </p:clrMapOvr>
  <p:transition spd="med" advTm="2000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565555-898C-6ACE-05E0-A5EC3F95C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" y="0"/>
            <a:ext cx="2760355" cy="537882"/>
          </a:xfrm>
        </p:spPr>
        <p:txBody>
          <a:bodyPr>
            <a:normAutofit fontScale="90000"/>
          </a:bodyPr>
          <a:lstStyle/>
          <a:p>
            <a:r>
              <a:rPr lang="es-AR" sz="1800" b="1" u="sng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Requisitos ESET Windows</a:t>
            </a:r>
            <a:endParaRPr lang="es-AR" dirty="0"/>
          </a:p>
        </p:txBody>
      </p:sp>
      <p:graphicFrame>
        <p:nvGraphicFramePr>
          <p:cNvPr id="13" name="Marcador de contenido 12">
            <a:extLst>
              <a:ext uri="{FF2B5EF4-FFF2-40B4-BE49-F238E27FC236}">
                <a16:creationId xmlns:a16="http://schemas.microsoft.com/office/drawing/2014/main" id="{1B39FA97-1168-D627-597D-35D862FA1E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8740376"/>
              </p:ext>
            </p:extLst>
          </p:nvPr>
        </p:nvGraphicFramePr>
        <p:xfrm>
          <a:off x="3148553" y="1066800"/>
          <a:ext cx="5891752" cy="51831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58711">
                  <a:extLst>
                    <a:ext uri="{9D8B030D-6E8A-4147-A177-3AD203B41FA5}">
                      <a16:colId xmlns:a16="http://schemas.microsoft.com/office/drawing/2014/main" val="1599815207"/>
                    </a:ext>
                  </a:extLst>
                </a:gridCol>
                <a:gridCol w="1933041">
                  <a:extLst>
                    <a:ext uri="{9D8B030D-6E8A-4147-A177-3AD203B41FA5}">
                      <a16:colId xmlns:a16="http://schemas.microsoft.com/office/drawing/2014/main" val="2327351335"/>
                    </a:ext>
                  </a:extLst>
                </a:gridCol>
              </a:tblGrid>
              <a:tr h="263373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s-AR" sz="1100" u="none" strike="noStrike" dirty="0">
                          <a:effectLst/>
                        </a:rPr>
                        <a:t>Windows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0342969"/>
                  </a:ext>
                </a:extLst>
              </a:tr>
              <a:tr h="263373">
                <a:tc>
                  <a:txBody>
                    <a:bodyPr/>
                    <a:lstStyle/>
                    <a:p>
                      <a:pPr algn="l" fontAlgn="ctr"/>
                      <a:r>
                        <a:rPr lang="es-AR" sz="1100" u="none" strike="noStrike">
                          <a:effectLst/>
                        </a:rPr>
                        <a:t>Sistema operativo</a:t>
                      </a:r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AR" sz="1100" u="none" strike="noStrike">
                          <a:effectLst/>
                        </a:rPr>
                        <a:t>Agente</a:t>
                      </a:r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51539272"/>
                  </a:ext>
                </a:extLst>
              </a:tr>
              <a:tr h="252838">
                <a:tc>
                  <a:txBody>
                    <a:bodyPr/>
                    <a:lstStyle/>
                    <a:p>
                      <a:pPr algn="l" fontAlgn="ctr"/>
                      <a:r>
                        <a:rPr lang="es-AR" sz="1000" u="none" strike="noStrike" dirty="0">
                          <a:effectLst/>
                        </a:rPr>
                        <a:t>Windows Server 2012 x64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AR" sz="1000" u="none" strike="noStrike">
                          <a:effectLst/>
                        </a:rPr>
                        <a:t>9.x—10.x, 11.0</a:t>
                      </a:r>
                      <a:endParaRPr lang="es-A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794609192"/>
                  </a:ext>
                </a:extLst>
              </a:tr>
              <a:tr h="252838">
                <a:tc>
                  <a:txBody>
                    <a:bodyPr/>
                    <a:lstStyle/>
                    <a:p>
                      <a:pPr algn="l" fontAlgn="ctr"/>
                      <a:r>
                        <a:rPr lang="es-AR" sz="1000" u="none" strike="noStrike" dirty="0">
                          <a:effectLst/>
                        </a:rPr>
                        <a:t>Windows Server 2012 CORE x64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AR" sz="1000" u="none" strike="noStrike">
                          <a:effectLst/>
                        </a:rPr>
                        <a:t>9.x—10.x, 11.0</a:t>
                      </a:r>
                      <a:endParaRPr lang="es-A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9040325"/>
                  </a:ext>
                </a:extLst>
              </a:tr>
              <a:tr h="252838">
                <a:tc>
                  <a:txBody>
                    <a:bodyPr/>
                    <a:lstStyle/>
                    <a:p>
                      <a:pPr algn="l" fontAlgn="ctr"/>
                      <a:r>
                        <a:rPr lang="es-AR" sz="1000" u="none" strike="noStrike">
                          <a:effectLst/>
                        </a:rPr>
                        <a:t>Windows Server 2012 R2 x64</a:t>
                      </a:r>
                      <a:endParaRPr lang="es-A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AR" sz="1000" u="none" strike="noStrike">
                          <a:effectLst/>
                        </a:rPr>
                        <a:t>9.x—10.x, 11.0</a:t>
                      </a:r>
                      <a:endParaRPr lang="es-A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603823277"/>
                  </a:ext>
                </a:extLst>
              </a:tr>
              <a:tr h="2528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Windows Server 2012 R2 CORE x64</a:t>
                      </a:r>
                      <a:endParaRPr lang="es-A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AR" sz="1000" u="none" strike="noStrike">
                          <a:effectLst/>
                        </a:rPr>
                        <a:t>9.x—10.x, 11.0</a:t>
                      </a:r>
                      <a:endParaRPr lang="es-A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54165363"/>
                  </a:ext>
                </a:extLst>
              </a:tr>
              <a:tr h="2528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Windows Storage Server 2012 R2 x64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AR" sz="1000" u="none" strike="noStrike">
                          <a:effectLst/>
                        </a:rPr>
                        <a:t>9.x—10.x, 11.0</a:t>
                      </a:r>
                      <a:endParaRPr lang="es-A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90067964"/>
                  </a:ext>
                </a:extLst>
              </a:tr>
              <a:tr h="252838">
                <a:tc>
                  <a:txBody>
                    <a:bodyPr/>
                    <a:lstStyle/>
                    <a:p>
                      <a:pPr algn="l" fontAlgn="ctr"/>
                      <a:r>
                        <a:rPr lang="es-AR" sz="1000" u="none" strike="noStrike">
                          <a:effectLst/>
                        </a:rPr>
                        <a:t>Windows Server 2016 x64</a:t>
                      </a:r>
                      <a:endParaRPr lang="es-A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AR" sz="1000" u="none" strike="noStrike">
                          <a:effectLst/>
                        </a:rPr>
                        <a:t>9.x—10.x, 11.0</a:t>
                      </a:r>
                      <a:endParaRPr lang="es-A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964979546"/>
                  </a:ext>
                </a:extLst>
              </a:tr>
              <a:tr h="252838">
                <a:tc>
                  <a:txBody>
                    <a:bodyPr/>
                    <a:lstStyle/>
                    <a:p>
                      <a:pPr algn="l" fontAlgn="ctr"/>
                      <a:r>
                        <a:rPr lang="es-AR" sz="1000" u="none" strike="noStrike">
                          <a:effectLst/>
                        </a:rPr>
                        <a:t>Windows Storage Server 2016 x64</a:t>
                      </a:r>
                      <a:endParaRPr lang="es-A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AR" sz="1000" u="none" strike="noStrike">
                          <a:effectLst/>
                        </a:rPr>
                        <a:t>9.x—10.x, 11.0</a:t>
                      </a:r>
                      <a:endParaRPr lang="es-A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72602580"/>
                  </a:ext>
                </a:extLst>
              </a:tr>
              <a:tr h="252838">
                <a:tc>
                  <a:txBody>
                    <a:bodyPr/>
                    <a:lstStyle/>
                    <a:p>
                      <a:pPr algn="l" fontAlgn="ctr"/>
                      <a:r>
                        <a:rPr lang="es-AR" sz="1000" u="none" strike="noStrike">
                          <a:effectLst/>
                        </a:rPr>
                        <a:t>Windows Server 2019 x64</a:t>
                      </a:r>
                      <a:endParaRPr lang="es-A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AR" sz="1000" u="none" strike="noStrike">
                          <a:effectLst/>
                        </a:rPr>
                        <a:t>9.x—10.x, 11.0</a:t>
                      </a:r>
                      <a:endParaRPr lang="es-A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555444608"/>
                  </a:ext>
                </a:extLst>
              </a:tr>
              <a:tr h="252838">
                <a:tc>
                  <a:txBody>
                    <a:bodyPr/>
                    <a:lstStyle/>
                    <a:p>
                      <a:pPr algn="l" fontAlgn="ctr"/>
                      <a:r>
                        <a:rPr lang="es-AR" sz="1000" u="none" strike="noStrike">
                          <a:effectLst/>
                        </a:rPr>
                        <a:t>Windows Server 2022 x64</a:t>
                      </a:r>
                      <a:endParaRPr lang="es-A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AR" sz="1000" u="none" strike="noStrike">
                          <a:effectLst/>
                        </a:rPr>
                        <a:t>9.x—10.x, 11.0</a:t>
                      </a:r>
                      <a:endParaRPr lang="es-A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81903578"/>
                  </a:ext>
                </a:extLst>
              </a:tr>
              <a:tr h="252838">
                <a:tc>
                  <a:txBody>
                    <a:bodyPr/>
                    <a:lstStyle/>
                    <a:p>
                      <a:pPr algn="l" fontAlgn="ctr"/>
                      <a:r>
                        <a:rPr lang="es-AR" sz="1000" u="none" strike="noStrike">
                          <a:effectLst/>
                        </a:rPr>
                        <a:t>Windows Server 2022 CORE x64</a:t>
                      </a:r>
                      <a:endParaRPr lang="es-A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AR" sz="1000" u="none" strike="noStrike">
                          <a:effectLst/>
                        </a:rPr>
                        <a:t>11.0</a:t>
                      </a:r>
                      <a:endParaRPr lang="es-A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27517113"/>
                  </a:ext>
                </a:extLst>
              </a:tr>
              <a:tr h="252838">
                <a:tc>
                  <a:txBody>
                    <a:bodyPr/>
                    <a:lstStyle/>
                    <a:p>
                      <a:pPr algn="l" fontAlgn="ctr"/>
                      <a:r>
                        <a:rPr lang="es-AR" sz="1000" u="none" strike="noStrike">
                          <a:effectLst/>
                        </a:rPr>
                        <a:t>Windows 10 x86</a:t>
                      </a:r>
                      <a:endParaRPr lang="es-A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AR" sz="1000" u="none" strike="noStrike">
                          <a:effectLst/>
                        </a:rPr>
                        <a:t>9.x—10.x, 11.0</a:t>
                      </a:r>
                      <a:endParaRPr lang="es-A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230750085"/>
                  </a:ext>
                </a:extLst>
              </a:tr>
              <a:tr h="431930">
                <a:tc>
                  <a:txBody>
                    <a:bodyPr/>
                    <a:lstStyle/>
                    <a:p>
                      <a:pPr algn="l" fontAlgn="ctr"/>
                      <a:r>
                        <a:rPr lang="es-AR" sz="1000" u="none" strike="noStrike">
                          <a:effectLst/>
                        </a:rPr>
                        <a:t>Windows 10 x64 (todas las versiones oficiales)</a:t>
                      </a:r>
                      <a:endParaRPr lang="es-A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AR" sz="1000" u="none" strike="noStrike">
                          <a:effectLst/>
                        </a:rPr>
                        <a:t>9.x—10.x, 11.0</a:t>
                      </a:r>
                      <a:endParaRPr lang="es-A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893681339"/>
                  </a:ext>
                </a:extLst>
              </a:tr>
              <a:tr h="252838">
                <a:tc>
                  <a:txBody>
                    <a:bodyPr/>
                    <a:lstStyle/>
                    <a:p>
                      <a:pPr algn="l" fontAlgn="ctr"/>
                      <a:r>
                        <a:rPr lang="es-AR" sz="1000" u="none" strike="noStrike">
                          <a:effectLst/>
                        </a:rPr>
                        <a:t>Windows 10 en ARM</a:t>
                      </a:r>
                      <a:endParaRPr lang="es-A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AR" sz="1000" u="none" strike="noStrike">
                          <a:effectLst/>
                        </a:rPr>
                        <a:t>9.x—10.x, 11.0</a:t>
                      </a:r>
                      <a:endParaRPr lang="es-A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771271798"/>
                  </a:ext>
                </a:extLst>
              </a:tr>
              <a:tr h="252838">
                <a:tc>
                  <a:txBody>
                    <a:bodyPr/>
                    <a:lstStyle/>
                    <a:p>
                      <a:pPr algn="l" fontAlgn="ctr"/>
                      <a:r>
                        <a:rPr lang="es-AR" sz="1000" u="none" strike="noStrike">
                          <a:effectLst/>
                        </a:rPr>
                        <a:t>Windows 11 x64</a:t>
                      </a:r>
                      <a:endParaRPr lang="es-A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AR" sz="1000" u="none" strike="noStrike">
                          <a:effectLst/>
                        </a:rPr>
                        <a:t>9.x (21H2)</a:t>
                      </a:r>
                      <a:endParaRPr lang="es-A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63368641"/>
                  </a:ext>
                </a:extLst>
              </a:tr>
              <a:tr h="431930">
                <a:tc rowSpan="3">
                  <a:txBody>
                    <a:bodyPr/>
                    <a:lstStyle/>
                    <a:p>
                      <a:pPr algn="l" fontAlgn="ctr"/>
                      <a:r>
                        <a:rPr lang="es-AR" sz="1000" u="none" strike="noStrike">
                          <a:effectLst/>
                        </a:rPr>
                        <a:t>Windows 11 en ARM</a:t>
                      </a:r>
                      <a:endParaRPr lang="es-A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AR" sz="1000" u="none" strike="noStrike">
                          <a:effectLst/>
                        </a:rPr>
                        <a:t>10.x, 11.0 (21H2,22H2)</a:t>
                      </a:r>
                      <a:endParaRPr lang="es-A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803334010"/>
                  </a:ext>
                </a:extLst>
              </a:tr>
              <a:tr h="252838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AR" sz="1000" u="none" strike="noStrike">
                          <a:effectLst/>
                        </a:rPr>
                        <a:t>10.1, 11.0 (23H2)</a:t>
                      </a:r>
                      <a:endParaRPr lang="es-A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94768108"/>
                  </a:ext>
                </a:extLst>
              </a:tr>
              <a:tr h="252838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AR" sz="1000" u="none" strike="noStrike" dirty="0">
                          <a:effectLst/>
                        </a:rPr>
                        <a:t>10.x, 11.0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4501953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0330041"/>
      </p:ext>
    </p:extLst>
  </p:cSld>
  <p:clrMapOvr>
    <a:masterClrMapping/>
  </p:clrMapOvr>
  <p:transition spd="med" advTm="3000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7907B-5EBE-67E9-B743-630B56E5F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731622-F476-DF74-B8ED-014FCEE01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" y="0"/>
            <a:ext cx="2760355" cy="537882"/>
          </a:xfrm>
        </p:spPr>
        <p:txBody>
          <a:bodyPr>
            <a:normAutofit/>
          </a:bodyPr>
          <a:lstStyle/>
          <a:p>
            <a:r>
              <a:rPr lang="es-AR" sz="1800" b="1" u="sng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Requisitos ESET Linux</a:t>
            </a:r>
            <a:endParaRPr lang="es-AR" dirty="0"/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958DB687-C862-27DE-CDA7-A7F7D4EEA7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0913919"/>
              </p:ext>
            </p:extLst>
          </p:nvPr>
        </p:nvGraphicFramePr>
        <p:xfrm>
          <a:off x="3120273" y="942679"/>
          <a:ext cx="5872898" cy="5354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76691">
                  <a:extLst>
                    <a:ext uri="{9D8B030D-6E8A-4147-A177-3AD203B41FA5}">
                      <a16:colId xmlns:a16="http://schemas.microsoft.com/office/drawing/2014/main" val="712651000"/>
                    </a:ext>
                  </a:extLst>
                </a:gridCol>
                <a:gridCol w="1996207">
                  <a:extLst>
                    <a:ext uri="{9D8B030D-6E8A-4147-A177-3AD203B41FA5}">
                      <a16:colId xmlns:a16="http://schemas.microsoft.com/office/drawing/2014/main" val="821986490"/>
                    </a:ext>
                  </a:extLst>
                </a:gridCol>
              </a:tblGrid>
              <a:tr h="231593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s-AR" sz="1100" u="none" strike="noStrike">
                          <a:effectLst/>
                        </a:rPr>
                        <a:t>Linux</a:t>
                      </a:r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4622461"/>
                  </a:ext>
                </a:extLst>
              </a:tr>
              <a:tr h="231593">
                <a:tc>
                  <a:txBody>
                    <a:bodyPr/>
                    <a:lstStyle/>
                    <a:p>
                      <a:pPr algn="l" fontAlgn="ctr"/>
                      <a:r>
                        <a:rPr lang="es-AR" sz="1100" u="none" strike="noStrike">
                          <a:effectLst/>
                        </a:rPr>
                        <a:t>Sistema operativo</a:t>
                      </a:r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AR" sz="1100" u="none" strike="noStrike">
                          <a:effectLst/>
                        </a:rPr>
                        <a:t>Agente</a:t>
                      </a:r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456770112"/>
                  </a:ext>
                </a:extLst>
              </a:tr>
              <a:tr h="222329">
                <a:tc>
                  <a:txBody>
                    <a:bodyPr/>
                    <a:lstStyle/>
                    <a:p>
                      <a:pPr algn="l" fontAlgn="ctr"/>
                      <a:r>
                        <a:rPr lang="es-AR" sz="1000" u="none" strike="noStrike">
                          <a:effectLst/>
                        </a:rPr>
                        <a:t>Ubuntu 18.04.1 LTS x64 Desktop</a:t>
                      </a:r>
                      <a:endParaRPr lang="es-A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u="none" strike="noStrike">
                          <a:effectLst/>
                        </a:rPr>
                        <a:t>9.x—10.x, 11.0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78724913"/>
                  </a:ext>
                </a:extLst>
              </a:tr>
              <a:tr h="222329">
                <a:tc>
                  <a:txBody>
                    <a:bodyPr/>
                    <a:lstStyle/>
                    <a:p>
                      <a:pPr algn="l" fontAlgn="ctr"/>
                      <a:r>
                        <a:rPr lang="es-AR" sz="1000" u="none" strike="noStrike" dirty="0">
                          <a:effectLst/>
                        </a:rPr>
                        <a:t>Ubuntu 18.04.1 LTS x64 Server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u="none" strike="noStrike">
                          <a:effectLst/>
                        </a:rPr>
                        <a:t>9.x—10.x, 11.0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22639619"/>
                  </a:ext>
                </a:extLst>
              </a:tr>
              <a:tr h="222329">
                <a:tc>
                  <a:txBody>
                    <a:bodyPr/>
                    <a:lstStyle/>
                    <a:p>
                      <a:pPr algn="l" fontAlgn="ctr"/>
                      <a:r>
                        <a:rPr lang="es-AR" sz="1000" u="none" strike="noStrike" dirty="0">
                          <a:effectLst/>
                        </a:rPr>
                        <a:t>Ubuntu 20.04 LTS x64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u="none" strike="noStrike">
                          <a:effectLst/>
                        </a:rPr>
                        <a:t>9.x—10.x, 11.0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557398714"/>
                  </a:ext>
                </a:extLst>
              </a:tr>
              <a:tr h="222329">
                <a:tc>
                  <a:txBody>
                    <a:bodyPr/>
                    <a:lstStyle/>
                    <a:p>
                      <a:pPr algn="l" fontAlgn="ctr"/>
                      <a:r>
                        <a:rPr lang="es-AR" sz="1000" u="none" strike="noStrike">
                          <a:effectLst/>
                        </a:rPr>
                        <a:t>Ubuntu 22.04 LTS x64</a:t>
                      </a:r>
                      <a:endParaRPr lang="es-A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AR" sz="1000" u="none" strike="noStrike">
                          <a:effectLst/>
                        </a:rPr>
                        <a:t>10.x, 11.0</a:t>
                      </a:r>
                      <a:endParaRPr lang="es-A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482288448"/>
                  </a:ext>
                </a:extLst>
              </a:tr>
              <a:tr h="222329">
                <a:tc>
                  <a:txBody>
                    <a:bodyPr/>
                    <a:lstStyle/>
                    <a:p>
                      <a:pPr algn="l" fontAlgn="ctr"/>
                      <a:r>
                        <a:rPr lang="es-AR" sz="1000" u="none" strike="noStrike">
                          <a:effectLst/>
                        </a:rPr>
                        <a:t>Linux Mint 20</a:t>
                      </a:r>
                      <a:endParaRPr lang="es-A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AR" sz="1000" u="none" strike="noStrike">
                          <a:effectLst/>
                        </a:rPr>
                        <a:t>10.x, 11.0</a:t>
                      </a:r>
                      <a:endParaRPr lang="es-A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24169986"/>
                  </a:ext>
                </a:extLst>
              </a:tr>
              <a:tr h="222329">
                <a:tc>
                  <a:txBody>
                    <a:bodyPr/>
                    <a:lstStyle/>
                    <a:p>
                      <a:pPr algn="l" fontAlgn="ctr"/>
                      <a:r>
                        <a:rPr lang="es-AR" sz="1000" u="none" strike="noStrike">
                          <a:effectLst/>
                        </a:rPr>
                        <a:t>Linux Mint 21</a:t>
                      </a:r>
                      <a:endParaRPr lang="es-A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AR" sz="1000" u="none" strike="noStrike">
                          <a:effectLst/>
                        </a:rPr>
                        <a:t>10.1, 11.0</a:t>
                      </a:r>
                      <a:endParaRPr lang="es-A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46728489"/>
                  </a:ext>
                </a:extLst>
              </a:tr>
              <a:tr h="222329">
                <a:tc>
                  <a:txBody>
                    <a:bodyPr/>
                    <a:lstStyle/>
                    <a:p>
                      <a:pPr algn="l" fontAlgn="ctr"/>
                      <a:r>
                        <a:rPr lang="es-AR" sz="1000" u="none" strike="noStrike">
                          <a:effectLst/>
                        </a:rPr>
                        <a:t>RHEL Server 7 x64</a:t>
                      </a:r>
                      <a:endParaRPr lang="es-A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u="none" strike="noStrike">
                          <a:effectLst/>
                        </a:rPr>
                        <a:t>9.x—10.x, 11.0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54357276"/>
                  </a:ext>
                </a:extLst>
              </a:tr>
              <a:tr h="222329">
                <a:tc>
                  <a:txBody>
                    <a:bodyPr/>
                    <a:lstStyle/>
                    <a:p>
                      <a:pPr algn="l" fontAlgn="ctr"/>
                      <a:r>
                        <a:rPr lang="es-AR" sz="1000" u="none" strike="noStrike">
                          <a:effectLst/>
                        </a:rPr>
                        <a:t>RHEL Server 8 x64</a:t>
                      </a:r>
                      <a:endParaRPr lang="es-A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u="none" strike="noStrike">
                          <a:effectLst/>
                        </a:rPr>
                        <a:t>9.x—10.x, 11.0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44784763"/>
                  </a:ext>
                </a:extLst>
              </a:tr>
              <a:tr h="222329">
                <a:tc>
                  <a:txBody>
                    <a:bodyPr/>
                    <a:lstStyle/>
                    <a:p>
                      <a:pPr algn="l" fontAlgn="ctr"/>
                      <a:r>
                        <a:rPr lang="es-AR" sz="1000" u="none" strike="noStrike">
                          <a:effectLst/>
                        </a:rPr>
                        <a:t>RHEL Server 9 x64</a:t>
                      </a:r>
                      <a:endParaRPr lang="es-A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u="none" strike="noStrike">
                          <a:effectLst/>
                        </a:rPr>
                        <a:t>9.x—10.x, 11.0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14720934"/>
                  </a:ext>
                </a:extLst>
              </a:tr>
              <a:tr h="222329">
                <a:tc>
                  <a:txBody>
                    <a:bodyPr/>
                    <a:lstStyle/>
                    <a:p>
                      <a:pPr algn="l" fontAlgn="ctr"/>
                      <a:r>
                        <a:rPr lang="es-AR" sz="1000" u="none" strike="noStrike">
                          <a:effectLst/>
                        </a:rPr>
                        <a:t>CentOS 7 x64</a:t>
                      </a:r>
                      <a:endParaRPr lang="es-A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u="none" strike="noStrike">
                          <a:effectLst/>
                        </a:rPr>
                        <a:t>9.x—10.x, 11.0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152386755"/>
                  </a:ext>
                </a:extLst>
              </a:tr>
              <a:tr h="222329">
                <a:tc>
                  <a:txBody>
                    <a:bodyPr/>
                    <a:lstStyle/>
                    <a:p>
                      <a:pPr algn="l" fontAlgn="ctr"/>
                      <a:r>
                        <a:rPr lang="es-AR" sz="1000" u="none" strike="noStrike">
                          <a:effectLst/>
                        </a:rPr>
                        <a:t>SLED 15 x64</a:t>
                      </a:r>
                      <a:endParaRPr lang="es-A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u="none" strike="noStrike">
                          <a:effectLst/>
                        </a:rPr>
                        <a:t>9.x—10.x, 11.0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298228645"/>
                  </a:ext>
                </a:extLst>
              </a:tr>
              <a:tr h="222329">
                <a:tc>
                  <a:txBody>
                    <a:bodyPr/>
                    <a:lstStyle/>
                    <a:p>
                      <a:pPr algn="l" fontAlgn="ctr"/>
                      <a:r>
                        <a:rPr lang="es-AR" sz="1000" u="none" strike="noStrike">
                          <a:effectLst/>
                        </a:rPr>
                        <a:t>SLES 12 x64</a:t>
                      </a:r>
                      <a:endParaRPr lang="es-A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u="none" strike="noStrike">
                          <a:effectLst/>
                        </a:rPr>
                        <a:t>9.x—10.x, 11.0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215175340"/>
                  </a:ext>
                </a:extLst>
              </a:tr>
              <a:tr h="222329">
                <a:tc>
                  <a:txBody>
                    <a:bodyPr/>
                    <a:lstStyle/>
                    <a:p>
                      <a:pPr algn="l" fontAlgn="ctr"/>
                      <a:r>
                        <a:rPr lang="es-AR" sz="1000" u="none" strike="noStrike">
                          <a:effectLst/>
                        </a:rPr>
                        <a:t>SLES 15 x64</a:t>
                      </a:r>
                      <a:endParaRPr lang="es-A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u="none" strike="noStrike">
                          <a:effectLst/>
                        </a:rPr>
                        <a:t>9.x—10.x, 11.0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514448344"/>
                  </a:ext>
                </a:extLst>
              </a:tr>
              <a:tr h="222329">
                <a:tc>
                  <a:txBody>
                    <a:bodyPr/>
                    <a:lstStyle/>
                    <a:p>
                      <a:pPr algn="l" fontAlgn="ctr"/>
                      <a:r>
                        <a:rPr lang="es-AR" sz="1000" u="none" strike="noStrike">
                          <a:effectLst/>
                        </a:rPr>
                        <a:t>Debian 9 x64</a:t>
                      </a:r>
                      <a:endParaRPr lang="es-A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u="none" strike="noStrike">
                          <a:effectLst/>
                        </a:rPr>
                        <a:t>9.x—10.x, 11.0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760763246"/>
                  </a:ext>
                </a:extLst>
              </a:tr>
              <a:tr h="222329">
                <a:tc>
                  <a:txBody>
                    <a:bodyPr/>
                    <a:lstStyle/>
                    <a:p>
                      <a:pPr algn="l" fontAlgn="ctr"/>
                      <a:r>
                        <a:rPr lang="es-AR" sz="1000" u="none" strike="noStrike">
                          <a:effectLst/>
                        </a:rPr>
                        <a:t>Debian 10 x64</a:t>
                      </a:r>
                      <a:endParaRPr lang="es-A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u="none" strike="noStrike">
                          <a:effectLst/>
                        </a:rPr>
                        <a:t>9.x—10.x, 11.0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882987872"/>
                  </a:ext>
                </a:extLst>
              </a:tr>
              <a:tr h="222329">
                <a:tc>
                  <a:txBody>
                    <a:bodyPr/>
                    <a:lstStyle/>
                    <a:p>
                      <a:pPr algn="l" fontAlgn="ctr"/>
                      <a:r>
                        <a:rPr lang="es-AR" sz="1000" u="none" strike="noStrike">
                          <a:effectLst/>
                        </a:rPr>
                        <a:t>Debian 11 x64</a:t>
                      </a:r>
                      <a:endParaRPr lang="es-A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u="none" strike="noStrike">
                          <a:effectLst/>
                        </a:rPr>
                        <a:t>9.x—10.x, 11.0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14694596"/>
                  </a:ext>
                </a:extLst>
              </a:tr>
              <a:tr h="222329">
                <a:tc>
                  <a:txBody>
                    <a:bodyPr/>
                    <a:lstStyle/>
                    <a:p>
                      <a:pPr algn="l" fontAlgn="ctr"/>
                      <a:r>
                        <a:rPr lang="es-AR" sz="1000" u="none" strike="noStrike">
                          <a:effectLst/>
                        </a:rPr>
                        <a:t>Debian 12 x64</a:t>
                      </a:r>
                      <a:endParaRPr lang="es-A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AR" sz="1000" u="none" strike="noStrike">
                          <a:effectLst/>
                        </a:rPr>
                        <a:t>10.1, 11.0</a:t>
                      </a:r>
                      <a:endParaRPr lang="es-A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15615885"/>
                  </a:ext>
                </a:extLst>
              </a:tr>
              <a:tr h="222329">
                <a:tc>
                  <a:txBody>
                    <a:bodyPr/>
                    <a:lstStyle/>
                    <a:p>
                      <a:pPr algn="l" fontAlgn="ctr"/>
                      <a:r>
                        <a:rPr lang="es-AR" sz="1000" u="none" strike="noStrike">
                          <a:effectLst/>
                        </a:rPr>
                        <a:t>Oracle Linux 8</a:t>
                      </a:r>
                      <a:endParaRPr lang="es-A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u="none" strike="noStrike">
                          <a:effectLst/>
                        </a:rPr>
                        <a:t>9.x—10.x, 11.0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810305265"/>
                  </a:ext>
                </a:extLst>
              </a:tr>
              <a:tr h="222329">
                <a:tc>
                  <a:txBody>
                    <a:bodyPr/>
                    <a:lstStyle/>
                    <a:p>
                      <a:pPr algn="l" fontAlgn="ctr"/>
                      <a:r>
                        <a:rPr lang="es-AR" sz="1000" u="none" strike="noStrike">
                          <a:effectLst/>
                        </a:rPr>
                        <a:t>Amazon Linux 2</a:t>
                      </a:r>
                      <a:endParaRPr lang="es-A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u="none" strike="noStrike">
                          <a:effectLst/>
                        </a:rPr>
                        <a:t>9.x—10.x, 11.0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859656965"/>
                  </a:ext>
                </a:extLst>
              </a:tr>
              <a:tr h="222329">
                <a:tc>
                  <a:txBody>
                    <a:bodyPr/>
                    <a:lstStyle/>
                    <a:p>
                      <a:pPr algn="l" fontAlgn="ctr"/>
                      <a:r>
                        <a:rPr lang="es-AR" sz="1000" u="none" strike="noStrike">
                          <a:effectLst/>
                        </a:rPr>
                        <a:t>Alma Linux 9</a:t>
                      </a:r>
                      <a:endParaRPr lang="es-A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AR" sz="1000" u="none" strike="noStrike">
                          <a:effectLst/>
                        </a:rPr>
                        <a:t>10.1, 11.0</a:t>
                      </a:r>
                      <a:endParaRPr lang="es-A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811508317"/>
                  </a:ext>
                </a:extLst>
              </a:tr>
              <a:tr h="222329">
                <a:tc>
                  <a:txBody>
                    <a:bodyPr/>
                    <a:lstStyle/>
                    <a:p>
                      <a:pPr algn="l" fontAlgn="ctr"/>
                      <a:r>
                        <a:rPr lang="es-AR" sz="1000" u="none" strike="noStrike">
                          <a:effectLst/>
                        </a:rPr>
                        <a:t>Rocky Linux 8</a:t>
                      </a:r>
                      <a:endParaRPr lang="es-A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AR" sz="1000" u="none" strike="noStrike">
                          <a:effectLst/>
                        </a:rPr>
                        <a:t>10.1, 11.0</a:t>
                      </a:r>
                      <a:endParaRPr lang="es-A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131612453"/>
                  </a:ext>
                </a:extLst>
              </a:tr>
              <a:tr h="222329">
                <a:tc>
                  <a:txBody>
                    <a:bodyPr/>
                    <a:lstStyle/>
                    <a:p>
                      <a:pPr algn="l" fontAlgn="ctr"/>
                      <a:r>
                        <a:rPr lang="es-AR" sz="1000" u="none" strike="noStrike">
                          <a:effectLst/>
                        </a:rPr>
                        <a:t>Rocky Linux 9</a:t>
                      </a:r>
                      <a:endParaRPr lang="es-A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AR" sz="1000" u="none" strike="noStrike" dirty="0">
                          <a:effectLst/>
                        </a:rPr>
                        <a:t>10.1, 11.0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5860475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1695084"/>
      </p:ext>
    </p:extLst>
  </p:cSld>
  <p:clrMapOvr>
    <a:masterClrMapping/>
  </p:clrMapOvr>
  <p:transition spd="med" advTm="3000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304AF-4269-148B-7FA6-B86EFCEBC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1977A6-E4F8-274D-D4AB-5AFAEB64A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" y="0"/>
            <a:ext cx="2760355" cy="537882"/>
          </a:xfrm>
        </p:spPr>
        <p:txBody>
          <a:bodyPr>
            <a:normAutofit/>
          </a:bodyPr>
          <a:lstStyle/>
          <a:p>
            <a:r>
              <a:rPr lang="es-AR" sz="1800" b="1" u="sng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Requisitos ESET macos</a:t>
            </a:r>
            <a:endParaRPr lang="es-AR" dirty="0"/>
          </a:p>
        </p:txBody>
      </p:sp>
      <p:graphicFrame>
        <p:nvGraphicFramePr>
          <p:cNvPr id="6" name="Marcador de contenido 5">
            <a:extLst>
              <a:ext uri="{FF2B5EF4-FFF2-40B4-BE49-F238E27FC236}">
                <a16:creationId xmlns:a16="http://schemas.microsoft.com/office/drawing/2014/main" id="{1B1079E3-70C5-C8E1-8C60-4714E8D3ED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8782592"/>
              </p:ext>
            </p:extLst>
          </p:nvPr>
        </p:nvGraphicFramePr>
        <p:xfrm>
          <a:off x="3459637" y="2026763"/>
          <a:ext cx="5099901" cy="29317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66437">
                  <a:extLst>
                    <a:ext uri="{9D8B030D-6E8A-4147-A177-3AD203B41FA5}">
                      <a16:colId xmlns:a16="http://schemas.microsoft.com/office/drawing/2014/main" val="3526961216"/>
                    </a:ext>
                  </a:extLst>
                </a:gridCol>
                <a:gridCol w="1733464">
                  <a:extLst>
                    <a:ext uri="{9D8B030D-6E8A-4147-A177-3AD203B41FA5}">
                      <a16:colId xmlns:a16="http://schemas.microsoft.com/office/drawing/2014/main" val="575117544"/>
                    </a:ext>
                  </a:extLst>
                </a:gridCol>
              </a:tblGrid>
              <a:tr h="433689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s-AR" sz="1100" u="none" strike="noStrike" dirty="0">
                          <a:effectLst/>
                        </a:rPr>
                        <a:t>macOS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3902908"/>
                  </a:ext>
                </a:extLst>
              </a:tr>
              <a:tr h="433689">
                <a:tc>
                  <a:txBody>
                    <a:bodyPr/>
                    <a:lstStyle/>
                    <a:p>
                      <a:pPr algn="l" fontAlgn="ctr"/>
                      <a:r>
                        <a:rPr lang="es-AR" sz="1100" u="none" strike="noStrike">
                          <a:effectLst/>
                        </a:rPr>
                        <a:t>Sistema operativo</a:t>
                      </a:r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AR" sz="1100" u="none" strike="noStrike">
                          <a:effectLst/>
                        </a:rPr>
                        <a:t>Agente</a:t>
                      </a:r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888023388"/>
                  </a:ext>
                </a:extLst>
              </a:tr>
              <a:tr h="416341">
                <a:tc>
                  <a:txBody>
                    <a:bodyPr/>
                    <a:lstStyle/>
                    <a:p>
                      <a:pPr algn="l" fontAlgn="ctr"/>
                      <a:r>
                        <a:rPr lang="es-AR" sz="1000" u="none" strike="noStrike">
                          <a:effectLst/>
                        </a:rPr>
                        <a:t>macOS Catalina (10.15)</a:t>
                      </a:r>
                      <a:endParaRPr lang="es-A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u="none" strike="noStrike">
                          <a:effectLst/>
                        </a:rPr>
                        <a:t>9.x—10.x, 11.0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94408498"/>
                  </a:ext>
                </a:extLst>
              </a:tr>
              <a:tr h="416341">
                <a:tc>
                  <a:txBody>
                    <a:bodyPr/>
                    <a:lstStyle/>
                    <a:p>
                      <a:pPr algn="l" fontAlgn="ctr"/>
                      <a:r>
                        <a:rPr lang="es-AR" sz="1000" u="none" strike="noStrike">
                          <a:effectLst/>
                        </a:rPr>
                        <a:t>macOS Big Sur (11.0)</a:t>
                      </a:r>
                      <a:endParaRPr lang="es-A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u="none" strike="noStrike">
                          <a:effectLst/>
                        </a:rPr>
                        <a:t>9.x—10.x, 11.0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48466405"/>
                  </a:ext>
                </a:extLst>
              </a:tr>
              <a:tr h="416341">
                <a:tc>
                  <a:txBody>
                    <a:bodyPr/>
                    <a:lstStyle/>
                    <a:p>
                      <a:pPr algn="l" fontAlgn="ctr"/>
                      <a:r>
                        <a:rPr lang="es-AR" sz="1000" u="none" strike="noStrike">
                          <a:effectLst/>
                        </a:rPr>
                        <a:t>macOS Monterey (12.0)</a:t>
                      </a:r>
                      <a:endParaRPr lang="es-A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u="none" strike="noStrike">
                          <a:effectLst/>
                        </a:rPr>
                        <a:t>9.x—10.x, 11.0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00239845"/>
                  </a:ext>
                </a:extLst>
              </a:tr>
              <a:tr h="416341">
                <a:tc>
                  <a:txBody>
                    <a:bodyPr/>
                    <a:lstStyle/>
                    <a:p>
                      <a:pPr algn="l" fontAlgn="ctr"/>
                      <a:r>
                        <a:rPr lang="es-AR" sz="1000" u="none" strike="noStrike">
                          <a:effectLst/>
                        </a:rPr>
                        <a:t>macOS Ventura (13.0)</a:t>
                      </a:r>
                      <a:endParaRPr lang="es-A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u="none" strike="noStrike">
                          <a:effectLst/>
                        </a:rPr>
                        <a:t>9.x—10.x, 11.0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245095838"/>
                  </a:ext>
                </a:extLst>
              </a:tr>
              <a:tr h="398993">
                <a:tc>
                  <a:txBody>
                    <a:bodyPr/>
                    <a:lstStyle/>
                    <a:p>
                      <a:pPr algn="l" fontAlgn="ctr"/>
                      <a:r>
                        <a:rPr lang="es-AR" sz="1000" u="none" strike="noStrike">
                          <a:effectLst/>
                        </a:rPr>
                        <a:t>macOS Sonoma (14.0)</a:t>
                      </a:r>
                      <a:endParaRPr lang="es-A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AR" sz="1000" u="none" strike="noStrike" dirty="0">
                          <a:effectLst/>
                        </a:rPr>
                        <a:t>10.1, 11.0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2622957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9034616"/>
      </p:ext>
    </p:extLst>
  </p:cSld>
  <p:clrMapOvr>
    <a:masterClrMapping/>
  </p:clrMapOvr>
  <p:transition spd="med" advTm="3000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8A745B-7D45-E245-15F0-01B68D164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2884602" cy="452486"/>
          </a:xfrm>
        </p:spPr>
        <p:txBody>
          <a:bodyPr>
            <a:normAutofit/>
          </a:bodyPr>
          <a:lstStyle/>
          <a:p>
            <a:r>
              <a:rPr lang="es-AR" sz="1800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Creación instaladores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247DD49-4386-7B1E-6CEF-0FD4C2664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3967" y="895662"/>
            <a:ext cx="5392691" cy="4675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895846"/>
      </p:ext>
    </p:extLst>
  </p:cSld>
  <p:clrMapOvr>
    <a:masterClrMapping/>
  </p:clrMapOvr>
  <p:transition spd="med" advTm="3000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CC791-F3B4-27C9-3D41-03DF9C45A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976402-8112-D20D-74DE-BC4240CA3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2884602" cy="452486"/>
          </a:xfrm>
        </p:spPr>
        <p:txBody>
          <a:bodyPr>
            <a:normAutofit/>
          </a:bodyPr>
          <a:lstStyle/>
          <a:p>
            <a:r>
              <a:rPr lang="es-AR" sz="1800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Creación instaladores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35CDBB3-7AAF-8570-D7B2-0173DCC58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935" y="526779"/>
            <a:ext cx="8352148" cy="5743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145603"/>
      </p:ext>
    </p:extLst>
  </p:cSld>
  <p:clrMapOvr>
    <a:masterClrMapping/>
  </p:clrMapOvr>
  <p:transition spd="med" advTm="3000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D75AB-1D35-78B5-1BCC-E3B6707E7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DF6EE4-9691-DE6C-5C02-86CD9A601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2884602" cy="452486"/>
          </a:xfrm>
        </p:spPr>
        <p:txBody>
          <a:bodyPr>
            <a:normAutofit/>
          </a:bodyPr>
          <a:lstStyle/>
          <a:p>
            <a:r>
              <a:rPr lang="es-AR" sz="1800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Instaladores Windows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1079F9A-FCA9-C205-ECD1-7332F8A97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1419" y="436710"/>
            <a:ext cx="6136849" cy="6277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839928"/>
      </p:ext>
    </p:extLst>
  </p:cSld>
  <p:clrMapOvr>
    <a:masterClrMapping/>
  </p:clrMapOvr>
  <p:transition spd="med" advTm="3000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752C9-E1E5-2DD4-E411-BFE0C44A3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4B5567-5731-F808-7F38-AE61F0E7B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2884602" cy="452486"/>
          </a:xfrm>
        </p:spPr>
        <p:txBody>
          <a:bodyPr>
            <a:normAutofit/>
          </a:bodyPr>
          <a:lstStyle/>
          <a:p>
            <a:r>
              <a:rPr lang="es-AR" sz="1800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Instaladores Windows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5851753-3D81-BA5C-3443-D8EE0829E0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37" t="1094" r="2352" b="4861"/>
          <a:stretch/>
        </p:blipFill>
        <p:spPr>
          <a:xfrm>
            <a:off x="1900488" y="622169"/>
            <a:ext cx="8176766" cy="5860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8210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2D6FC-5BF1-04C9-0578-BFBDF4914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859E5E-4E18-B7FA-D8F8-D43C50A95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2884602" cy="452486"/>
          </a:xfrm>
        </p:spPr>
        <p:txBody>
          <a:bodyPr>
            <a:normAutofit/>
          </a:bodyPr>
          <a:lstStyle/>
          <a:p>
            <a:r>
              <a:rPr lang="es-AR" sz="1800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Instaladores Windows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E1B6EDF-87D9-525C-C900-4AC3D3351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266" y="452487"/>
            <a:ext cx="8220398" cy="617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5899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E9817-DF2A-7BB4-373A-B1EC0F078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A3552C-D2A7-9771-7E10-21A25B78C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2884602" cy="452486"/>
          </a:xfrm>
        </p:spPr>
        <p:txBody>
          <a:bodyPr>
            <a:normAutofit/>
          </a:bodyPr>
          <a:lstStyle/>
          <a:p>
            <a:r>
              <a:rPr lang="es-AR" sz="1800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Instaladores macos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9BFDA07-6086-6439-0568-6D902AE2B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669" y="452487"/>
            <a:ext cx="9955687" cy="6146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712766"/>
      </p:ext>
    </p:extLst>
  </p:cSld>
  <p:clrMapOvr>
    <a:masterClrMapping/>
  </p:clrMapOvr>
  <p:transition spd="med" advTm="3000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2FBDF-09DE-ACD2-C3CD-8ED8DEA6B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B44354-8916-CBC6-C5DF-0DF16C915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2884602" cy="452486"/>
          </a:xfrm>
        </p:spPr>
        <p:txBody>
          <a:bodyPr>
            <a:normAutofit/>
          </a:bodyPr>
          <a:lstStyle/>
          <a:p>
            <a:r>
              <a:rPr lang="es-AR" sz="1800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Instaladores </a:t>
            </a:r>
            <a:r>
              <a:rPr lang="es-AR" sz="1800" u="sng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linux</a:t>
            </a:r>
            <a:endParaRPr lang="es-AR" sz="1800" u="sng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43AE7E8-68B0-BA74-6567-6BFBCE0F00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615" t="22543" r="50364"/>
          <a:stretch/>
        </p:blipFill>
        <p:spPr>
          <a:xfrm>
            <a:off x="3653672" y="368396"/>
            <a:ext cx="4884656" cy="612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0776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04086-54D0-53A7-9AB3-B66A9A4DE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41CE96-22C3-7947-FFBE-CF17523C56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88" y="0"/>
            <a:ext cx="2659362" cy="342557"/>
          </a:xfrm>
        </p:spPr>
        <p:txBody>
          <a:bodyPr>
            <a:normAutofit/>
          </a:bodyPr>
          <a:lstStyle/>
          <a:p>
            <a:r>
              <a:rPr lang="es-AR" sz="1800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Instalar en macos</a:t>
            </a:r>
          </a:p>
        </p:txBody>
      </p:sp>
      <p:sp>
        <p:nvSpPr>
          <p:cNvPr id="6" name="Subtítulo 5">
            <a:extLst>
              <a:ext uri="{FF2B5EF4-FFF2-40B4-BE49-F238E27FC236}">
                <a16:creationId xmlns:a16="http://schemas.microsoft.com/office/drawing/2014/main" id="{AEAC539A-DC10-3475-8F19-02CA7C64BD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6816" y="518474"/>
            <a:ext cx="10124388" cy="5948313"/>
          </a:xfrm>
        </p:spPr>
        <p:txBody>
          <a:bodyPr>
            <a:normAutofit/>
          </a:bodyPr>
          <a:lstStyle/>
          <a:p>
            <a:pPr marL="228600" indent="-228600" algn="just">
              <a:lnSpc>
                <a:spcPct val="107000"/>
              </a:lnSpc>
              <a:spcAft>
                <a:spcPts val="800"/>
              </a:spcAft>
              <a:buAutoNum type="arabicParenR"/>
            </a:pPr>
            <a:r>
              <a:rPr lang="es-A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Descargar el script instalador del agente en el equipo cliente. </a:t>
            </a:r>
          </a:p>
          <a:p>
            <a:pPr marL="228600" indent="-228600" algn="just">
              <a:lnSpc>
                <a:spcPct val="107000"/>
              </a:lnSpc>
              <a:spcAft>
                <a:spcPts val="800"/>
              </a:spcAft>
              <a:buAutoNum type="arabicParenR"/>
            </a:pPr>
            <a:r>
              <a:rPr lang="es-A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Haga doble clic en </a:t>
            </a:r>
            <a:r>
              <a:rPr lang="es-AR" sz="1200" b="1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PROTECTAgentInstaller.tar.gz</a:t>
            </a:r>
            <a:r>
              <a:rPr lang="es-A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para extraer el archivo </a:t>
            </a:r>
            <a:r>
              <a:rPr lang="es-AR" sz="1200" b="1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PROTECTAgentInstaller.sh</a:t>
            </a:r>
            <a:r>
              <a:rPr lang="es-A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en su escritorio.</a:t>
            </a:r>
          </a:p>
          <a:p>
            <a:pPr marL="228600" indent="-228600" algn="just">
              <a:lnSpc>
                <a:spcPct val="107000"/>
              </a:lnSpc>
              <a:spcAft>
                <a:spcPts val="800"/>
              </a:spcAft>
              <a:buAutoNum type="arabicParenR"/>
            </a:pPr>
            <a:r>
              <a:rPr lang="es-A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Haga clic en Ir &gt; </a:t>
            </a:r>
            <a:r>
              <a:rPr lang="es-AR" sz="1200" b="1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Utilidades</a:t>
            </a:r>
            <a:r>
              <a:rPr lang="es-A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y, a continuación, haga doble clic en Terminal para abrir una nueva ventana de terminal.</a:t>
            </a:r>
          </a:p>
          <a:p>
            <a:pPr marL="228600" indent="-228600" algn="just">
              <a:lnSpc>
                <a:spcPct val="107000"/>
              </a:lnSpc>
              <a:spcAft>
                <a:spcPts val="800"/>
              </a:spcAft>
              <a:buAutoNum type="arabicParenR"/>
            </a:pPr>
            <a:r>
              <a:rPr lang="es-A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Habilitar acceso total al terminal:</a:t>
            </a:r>
          </a:p>
          <a:p>
            <a:pPr marL="800100" lvl="1" indent="-342900" algn="just">
              <a:lnSpc>
                <a:spcPct val="107000"/>
              </a:lnSpc>
              <a:buFont typeface="+mj-lt"/>
              <a:buAutoNum type="alphaUcPeriod"/>
            </a:pPr>
            <a:r>
              <a:rPr lang="es-AR" sz="105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Abra las </a:t>
            </a:r>
            <a:r>
              <a:rPr lang="es-AR" sz="1050" b="1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Preferencias del sistema &gt; Seguridad y privacidad &gt; Privacidad</a:t>
            </a:r>
            <a:r>
              <a:rPr lang="es-AR" sz="105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800100" lvl="1" indent="-342900" algn="just">
              <a:lnSpc>
                <a:spcPct val="107000"/>
              </a:lnSpc>
              <a:buFont typeface="+mj-lt"/>
              <a:buAutoNum type="alphaUcPeriod"/>
            </a:pPr>
            <a:r>
              <a:rPr lang="es-AR" sz="105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Desbloquee la configuración en la esquina inferior izquierda.</a:t>
            </a:r>
          </a:p>
          <a:p>
            <a:pPr marL="800100" lvl="1" indent="-342900" algn="just">
              <a:lnSpc>
                <a:spcPct val="107000"/>
              </a:lnSpc>
              <a:buFont typeface="+mj-lt"/>
              <a:buAutoNum type="alphaUcPeriod"/>
            </a:pPr>
            <a:r>
              <a:rPr lang="es-AR" sz="105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Haga clic en </a:t>
            </a:r>
            <a:r>
              <a:rPr lang="es-AR" sz="1050" b="1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Acceso total al disco</a:t>
            </a:r>
            <a:r>
              <a:rPr lang="es-AR" sz="105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800100" lvl="1" indent="-342900" algn="just">
              <a:lnSpc>
                <a:spcPct val="107000"/>
              </a:lnSpc>
              <a:buFont typeface="+mj-lt"/>
              <a:buAutoNum type="alphaUcPeriod"/>
            </a:pPr>
            <a:r>
              <a:rPr lang="es-AR" sz="105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Haga clic en + &gt; </a:t>
            </a:r>
            <a:r>
              <a:rPr lang="es-AR" sz="1050" b="1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Aplicación </a:t>
            </a:r>
            <a:r>
              <a:rPr lang="es-AR" sz="105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y agregue el </a:t>
            </a:r>
            <a:r>
              <a:rPr lang="es-AR" sz="1050" b="1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Terminal</a:t>
            </a:r>
            <a:r>
              <a:rPr lang="es-AR" sz="105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 la lista de aplicaciones en la carpeta </a:t>
            </a:r>
            <a:r>
              <a:rPr lang="es-AR" sz="1050" b="1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Acceso total al disco</a:t>
            </a:r>
            <a:r>
              <a:rPr lang="es-AR" sz="105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800100" lvl="1" indent="-342900" algn="just">
              <a:lnSpc>
                <a:spcPct val="107000"/>
              </a:lnSpc>
              <a:buFont typeface="+mj-lt"/>
              <a:buAutoNum type="alphaUcPeriod"/>
            </a:pPr>
            <a:r>
              <a:rPr lang="es-AR" sz="105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Bloquee la configuración en la esquina inferior izquierda.</a:t>
            </a:r>
          </a:p>
          <a:p>
            <a:pPr lvl="1" algn="just">
              <a:lnSpc>
                <a:spcPct val="107000"/>
              </a:lnSpc>
            </a:pPr>
            <a:endParaRPr lang="es-AR" sz="1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indent="-228600" algn="just">
              <a:lnSpc>
                <a:spcPct val="107000"/>
              </a:lnSpc>
              <a:buFont typeface="+mj-lt"/>
              <a:buAutoNum type="arabicParenR"/>
            </a:pPr>
            <a:r>
              <a:rPr lang="es-A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 la nueva ventana de terminal, escriba los siguientes comandos:</a:t>
            </a:r>
          </a:p>
          <a:p>
            <a:pPr marL="800100" lvl="1" indent="-342900" algn="just">
              <a:lnSpc>
                <a:spcPct val="107000"/>
              </a:lnSpc>
              <a:buFont typeface="+mj-lt"/>
              <a:buAutoNum type="alphaUcPeriod"/>
            </a:pPr>
            <a:r>
              <a:rPr lang="es-AR" sz="105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cd Desktop</a:t>
            </a:r>
          </a:p>
          <a:p>
            <a:pPr marL="800100" lvl="1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es-AR" sz="105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sudo </a:t>
            </a:r>
            <a:r>
              <a:rPr lang="es-AR" sz="105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bash</a:t>
            </a:r>
            <a:r>
              <a:rPr lang="es-AR" sz="105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PROTECTAgentInstaller.sh</a:t>
            </a:r>
          </a:p>
          <a:p>
            <a:pPr marL="228600" indent="-228600" algn="l">
              <a:buFont typeface="+mj-lt"/>
              <a:buAutoNum type="arabicParenR"/>
            </a:pPr>
            <a: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Cuando se le solicite, escriba la contraseña de la cuenta de usuario y pulse Volver para continuar con la instalación.</a:t>
            </a:r>
            <a:endParaRPr lang="es-AR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41034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1FD5B-7517-7189-54E5-2220BC0A3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8149FC-3C87-72B3-71B8-138FB1F9A3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88" y="0"/>
            <a:ext cx="2659362" cy="342557"/>
          </a:xfrm>
        </p:spPr>
        <p:txBody>
          <a:bodyPr>
            <a:normAutofit/>
          </a:bodyPr>
          <a:lstStyle/>
          <a:p>
            <a:r>
              <a:rPr lang="es-AR" sz="1800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Instalar en macos</a:t>
            </a:r>
          </a:p>
        </p:txBody>
      </p:sp>
      <p:sp>
        <p:nvSpPr>
          <p:cNvPr id="6" name="Subtítulo 5">
            <a:extLst>
              <a:ext uri="{FF2B5EF4-FFF2-40B4-BE49-F238E27FC236}">
                <a16:creationId xmlns:a16="http://schemas.microsoft.com/office/drawing/2014/main" id="{B3C72F8D-8D00-53EE-5248-A9D82B0516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6816" y="518474"/>
            <a:ext cx="10124388" cy="5948313"/>
          </a:xfrm>
        </p:spPr>
        <p:txBody>
          <a:bodyPr>
            <a:norm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A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7) </a:t>
            </a:r>
            <a: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Habilite el acceso total al disco para el agente ESET Management:</a:t>
            </a:r>
            <a:endParaRPr lang="es-AR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85800" lvl="1" indent="-228600" algn="just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es-MX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Abra las Preferencias del sistema &gt; Seguridad y privacidad &gt; Privacidad.</a:t>
            </a:r>
          </a:p>
          <a:p>
            <a:pPr marL="685800" lvl="1" indent="-228600" algn="just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es-MX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Desbloquee la configuración en la esquina inferior izquierda.</a:t>
            </a:r>
          </a:p>
          <a:p>
            <a:pPr marL="685800" lvl="1" indent="-228600" algn="just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es-MX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Haga clic en Acceso total al disco.</a:t>
            </a:r>
          </a:p>
          <a:p>
            <a:pPr marL="685800" lvl="1" indent="-228600" algn="just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es-MX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Haga clic en + &gt; Aplicación &gt; ESET &gt; Abrir y agregue el agente de ESET Management a la lista de aplicaciones en la carpeta Acceso total al disco.</a:t>
            </a:r>
          </a:p>
          <a:p>
            <a:pPr marL="685800" lvl="1" indent="-228600" algn="just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es-MX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Bloquee la configuración en la esquina inferior izquierda.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s-MX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AR" sz="1200" b="1" u="sng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Resolución de problemas de Instalación del agente</a:t>
            </a:r>
            <a:endParaRPr lang="es-AR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A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Compruebe que el agente esté en ejecución: Haga clic en Ir </a:t>
            </a:r>
            <a:r>
              <a:rPr lang="es-AR" sz="1200" b="1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Utilidades</a:t>
            </a:r>
            <a:r>
              <a:rPr lang="es-A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y, a continuación, haga doble clic en </a:t>
            </a:r>
            <a:r>
              <a:rPr lang="es-AR" sz="1200" b="1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Monitor de actividad</a:t>
            </a:r>
            <a:r>
              <a:rPr lang="es-A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Haga clic en la pestaña Energía o en la pestaña CPU y </a:t>
            </a:r>
            <a:r>
              <a:rPr lang="es-AR" sz="1200" b="1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localice el proceso llamado </a:t>
            </a:r>
            <a:r>
              <a:rPr lang="es-AR" sz="1200" b="1" i="1" u="sng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ERAAgent</a:t>
            </a:r>
            <a:r>
              <a:rPr lang="es-A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archivo de registro del Agente ESET Management se puede encontrar aquí:</a:t>
            </a:r>
          </a:p>
          <a:p>
            <a:pPr marL="685800" lvl="1" indent="-228600" algn="just">
              <a:lnSpc>
                <a:spcPct val="107000"/>
              </a:lnSpc>
              <a:spcAft>
                <a:spcPts val="800"/>
              </a:spcAft>
              <a:buAutoNum type="alphaUcPeriod"/>
            </a:pPr>
            <a:r>
              <a:rPr lang="es-MX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/Library/Application Support/</a:t>
            </a:r>
            <a:r>
              <a:rPr lang="es-MX" sz="1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com.eset.remoteadministrator.agent</a:t>
            </a:r>
            <a:r>
              <a:rPr lang="es-MX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/Logs/</a:t>
            </a:r>
          </a:p>
          <a:p>
            <a:pPr marL="685800" lvl="1" indent="-228600" algn="just">
              <a:lnSpc>
                <a:spcPct val="107000"/>
              </a:lnSpc>
              <a:spcAft>
                <a:spcPts val="800"/>
              </a:spcAft>
              <a:buAutoNum type="alphaUcPeriod"/>
            </a:pPr>
            <a:r>
              <a:rPr lang="es-MX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s-MX" sz="1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Users</a:t>
            </a:r>
            <a:r>
              <a:rPr lang="es-MX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/%user%/Library/Logs/EraAgentInstaller.log</a:t>
            </a:r>
          </a:p>
        </p:txBody>
      </p:sp>
    </p:spTree>
    <p:extLst>
      <p:ext uri="{BB962C8B-B14F-4D97-AF65-F5344CB8AC3E}">
        <p14:creationId xmlns:p14="http://schemas.microsoft.com/office/powerpoint/2010/main" val="547698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E2EDB-C966-3CCD-8781-C20F789B8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2F8BA8-36C2-279F-AF70-4EBF447FF6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88" y="0"/>
            <a:ext cx="2659362" cy="342557"/>
          </a:xfrm>
        </p:spPr>
        <p:txBody>
          <a:bodyPr>
            <a:normAutofit/>
          </a:bodyPr>
          <a:lstStyle/>
          <a:p>
            <a:r>
              <a:rPr lang="es-AR" sz="1800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Instalar en LINUX</a:t>
            </a:r>
          </a:p>
        </p:txBody>
      </p:sp>
      <p:sp>
        <p:nvSpPr>
          <p:cNvPr id="6" name="Subtítulo 5">
            <a:extLst>
              <a:ext uri="{FF2B5EF4-FFF2-40B4-BE49-F238E27FC236}">
                <a16:creationId xmlns:a16="http://schemas.microsoft.com/office/drawing/2014/main" id="{2D3B1692-721D-1969-D6AA-9A83B11E8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6816" y="518474"/>
            <a:ext cx="11764652" cy="5948313"/>
          </a:xfrm>
        </p:spPr>
        <p:txBody>
          <a:bodyPr>
            <a:norm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 recomienda usar la versión más reciente de OpenSSL1.1.1. El agente ESET Management admite OpenSSL 3.x. La versión compatible mínima de OpenSSL para Linux es openssl-1.0.1e-30. Puede haber más versiones de OpenSSL instaladas en un sistema de forma simultánea. Debe haber al menos una versión compatible presente en su sistema.</a:t>
            </a:r>
          </a:p>
          <a:p>
            <a:pPr marL="628650" lvl="1" indent="-1714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MX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el comando </a:t>
            </a:r>
            <a:r>
              <a:rPr lang="es-MX" sz="11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openssl</a:t>
            </a:r>
            <a:r>
              <a:rPr lang="es-MX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MX" sz="11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version</a:t>
            </a:r>
            <a:r>
              <a:rPr lang="es-MX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para mostrar la versión predeterminada actual.</a:t>
            </a:r>
          </a:p>
          <a:p>
            <a:pPr marL="628650" lvl="1" indent="-1714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MX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Puede mostrar una lista de todas las versiones de OpenSSL presentes en su sistema. Vea las extensiones de nombre de archivo con el comando </a:t>
            </a:r>
            <a:r>
              <a:rPr lang="es-MX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sudo </a:t>
            </a:r>
            <a:r>
              <a:rPr lang="es-MX" sz="11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</a:t>
            </a:r>
            <a:r>
              <a:rPr lang="es-MX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/ -</a:t>
            </a:r>
            <a:r>
              <a:rPr lang="es-MX" sz="11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iname</a:t>
            </a:r>
            <a:r>
              <a:rPr lang="es-MX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*libcrypto.so*</a:t>
            </a:r>
          </a:p>
          <a:p>
            <a:pPr marL="628650" lvl="1" indent="-1714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MX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Puede verificar si el cliente de Linux es compatible mediante el siguiente comando: </a:t>
            </a:r>
            <a:r>
              <a:rPr lang="es-MX" sz="11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openssl</a:t>
            </a:r>
            <a:r>
              <a:rPr lang="es-MX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MX" sz="11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s_client</a:t>
            </a:r>
            <a:r>
              <a:rPr lang="es-MX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</a:t>
            </a:r>
            <a:r>
              <a:rPr lang="es-MX" sz="11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connect</a:t>
            </a:r>
            <a:r>
              <a:rPr lang="es-MX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google.com:443 -tls1_2</a:t>
            </a:r>
          </a:p>
          <a:p>
            <a:pPr marL="228600" indent="-2286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arenR"/>
            </a:pPr>
            <a: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Instalar el paquete </a:t>
            </a:r>
            <a:r>
              <a:rPr lang="es-MX" sz="1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lshw</a:t>
            </a:r>
            <a: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 el equipo Linux cliente/servidor para que el agente ESET Management informe correctamente el inventario de hardware.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s-MX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s-MX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 Linux CentOS, se recomienda instalar el paquete </a:t>
            </a:r>
            <a:r>
              <a:rPr lang="es-MX" sz="1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policycoreutils-devel</a:t>
            </a:r>
            <a: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Ejecute el comando para instalar el paquete: </a:t>
            </a:r>
            <a:r>
              <a:rPr lang="es-MX" sz="1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yum</a:t>
            </a: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install </a:t>
            </a:r>
            <a:r>
              <a:rPr lang="es-MX" sz="1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policycoreutils-devel</a:t>
            </a:r>
            <a:endParaRPr lang="es-MX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8600" indent="-228600" algn="just">
              <a:lnSpc>
                <a:spcPct val="107000"/>
              </a:lnSpc>
              <a:spcAft>
                <a:spcPts val="800"/>
              </a:spcAft>
              <a:buAutoNum type="arabicParenR" startAt="2"/>
            </a:pPr>
            <a: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Descargar el script instalador del agente en el equipo cliente.</a:t>
            </a:r>
          </a:p>
          <a:p>
            <a:pPr marL="228600" indent="-228600" algn="just">
              <a:lnSpc>
                <a:spcPct val="107000"/>
              </a:lnSpc>
              <a:spcAft>
                <a:spcPts val="800"/>
              </a:spcAft>
              <a:buAutoNum type="arabicParenR" startAt="2"/>
            </a:pPr>
            <a: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Extraer el archivo .</a:t>
            </a:r>
            <a:r>
              <a:rPr lang="es-MX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</a:t>
            </a:r>
            <a: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del archivo .</a:t>
            </a:r>
            <a:r>
              <a:rPr lang="es-MX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gz</a:t>
            </a:r>
            <a: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s-MX" sz="1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</a:t>
            </a: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</a:t>
            </a:r>
            <a:r>
              <a:rPr lang="es-MX" sz="1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xvzf</a:t>
            </a: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PROTECTAgentInstaller.tar.gz</a:t>
            </a:r>
          </a:p>
          <a:p>
            <a:pPr marL="228600" indent="-228600" algn="just">
              <a:lnSpc>
                <a:spcPct val="107000"/>
              </a:lnSpc>
              <a:spcAft>
                <a:spcPts val="800"/>
              </a:spcAft>
              <a:buAutoNum type="arabicParenR" startAt="2"/>
            </a:pPr>
            <a: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Configurar el archivo de instalación del Agente ESET Management .</a:t>
            </a:r>
            <a:r>
              <a:rPr lang="es-MX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</a:t>
            </a:r>
            <a: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como ejecutable: </a:t>
            </a:r>
            <a:r>
              <a:rPr lang="es-MX" sz="1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chmod</a:t>
            </a: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+x PROTECTAgentInstaller.sh</a:t>
            </a:r>
          </a:p>
          <a:p>
            <a:pPr marL="228600" indent="-228600" algn="just">
              <a:lnSpc>
                <a:spcPct val="107000"/>
              </a:lnSpc>
              <a:spcAft>
                <a:spcPts val="800"/>
              </a:spcAft>
              <a:buAutoNum type="arabicParenR" startAt="2"/>
            </a:pPr>
            <a: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Ejecutar el archivo .</a:t>
            </a:r>
            <a:r>
              <a:rPr lang="es-MX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</a:t>
            </a:r>
            <a: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 ejecute el comando de terminal: </a:t>
            </a: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sudo ./PROTECTAgentInstaller.sh</a:t>
            </a:r>
          </a:p>
          <a:p>
            <a:pPr marL="228600" indent="-228600" algn="just">
              <a:lnSpc>
                <a:spcPct val="107000"/>
              </a:lnSpc>
              <a:spcAft>
                <a:spcPts val="800"/>
              </a:spcAft>
              <a:buAutoNum type="arabicParenR" startAt="2"/>
            </a:pPr>
            <a: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Una vez completada la instalación del agente, ejecute el siguiente comando en la ventana de terminal para verificar que el agente se esté ejecutando</a:t>
            </a: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sudo </a:t>
            </a:r>
            <a:r>
              <a:rPr lang="es-MX" sz="1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systemctl</a:t>
            </a:r>
            <a:r>
              <a:rPr lang="es-MX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status </a:t>
            </a:r>
            <a:r>
              <a:rPr lang="es-MX" sz="1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eraagent</a:t>
            </a:r>
            <a:endParaRPr lang="es-MX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E9E4C781-786D-B1AB-AEEB-70CDB83AE9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888381"/>
              </p:ext>
            </p:extLst>
          </p:nvPr>
        </p:nvGraphicFramePr>
        <p:xfrm>
          <a:off x="543074" y="2554663"/>
          <a:ext cx="3661281" cy="78487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94489">
                  <a:extLst>
                    <a:ext uri="{9D8B030D-6E8A-4147-A177-3AD203B41FA5}">
                      <a16:colId xmlns:a16="http://schemas.microsoft.com/office/drawing/2014/main" val="681122221"/>
                    </a:ext>
                  </a:extLst>
                </a:gridCol>
                <a:gridCol w="1966792">
                  <a:extLst>
                    <a:ext uri="{9D8B030D-6E8A-4147-A177-3AD203B41FA5}">
                      <a16:colId xmlns:a16="http://schemas.microsoft.com/office/drawing/2014/main" val="3815793898"/>
                    </a:ext>
                  </a:extLst>
                </a:gridCol>
              </a:tblGrid>
              <a:tr h="148636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100" kern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Distribución Linux</a:t>
                      </a:r>
                      <a:endParaRPr lang="es-AR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100" ker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Comando de terminales</a:t>
                      </a:r>
                      <a:endParaRPr lang="es-A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3154562887"/>
                  </a:ext>
                </a:extLst>
              </a:tr>
              <a:tr h="148636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100" kern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Debian, Ubuntu</a:t>
                      </a:r>
                      <a:endParaRPr lang="es-AR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sudo apt-get install -y lshw</a:t>
                      </a:r>
                      <a:endParaRPr lang="es-A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2479943767"/>
                  </a:ext>
                </a:extLst>
              </a:tr>
              <a:tr h="270529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100" kern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Red </a:t>
                      </a:r>
                      <a:r>
                        <a:rPr lang="es-AR" sz="1100" kern="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Hat</a:t>
                      </a:r>
                      <a:r>
                        <a:rPr lang="es-AR" sz="1100" kern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CentOS, RHEL</a:t>
                      </a:r>
                      <a:endParaRPr lang="es-AR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100" kern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sudo </a:t>
                      </a:r>
                      <a:r>
                        <a:rPr lang="es-AR" sz="1100" kern="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yum</a:t>
                      </a:r>
                      <a:r>
                        <a:rPr lang="es-AR" sz="1100" kern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install -y </a:t>
                      </a:r>
                      <a:r>
                        <a:rPr lang="es-AR" sz="1100" kern="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lshw</a:t>
                      </a:r>
                      <a:endParaRPr lang="es-AR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3327587373"/>
                  </a:ext>
                </a:extLst>
              </a:tr>
              <a:tr h="148636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100" kern="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OpenSUSE</a:t>
                      </a:r>
                      <a:endParaRPr lang="es-AR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100" kern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sudo </a:t>
                      </a:r>
                      <a:r>
                        <a:rPr lang="es-AR" sz="1100" kern="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zypper</a:t>
                      </a:r>
                      <a:r>
                        <a:rPr lang="es-AR" sz="1100" kern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install </a:t>
                      </a:r>
                      <a:r>
                        <a:rPr lang="es-AR" sz="1100" kern="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lshw</a:t>
                      </a:r>
                      <a:endParaRPr lang="es-AR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29441151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3542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TM04033921[[fn=Damasco]]</Template>
  <TotalTime>93</TotalTime>
  <Words>1199</Words>
  <PresentationFormat>Panorámica</PresentationFormat>
  <Paragraphs>156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Arial</vt:lpstr>
      <vt:lpstr>Bookman Old Style</vt:lpstr>
      <vt:lpstr>Calibri</vt:lpstr>
      <vt:lpstr>Rockwell</vt:lpstr>
      <vt:lpstr>Damask</vt:lpstr>
      <vt:lpstr>Requisitos, creación e instalación eset cloud</vt:lpstr>
      <vt:lpstr>Requisitos ESET Windows</vt:lpstr>
      <vt:lpstr>Requisitos ESET Linux</vt:lpstr>
      <vt:lpstr>Requisitos ESET macos</vt:lpstr>
      <vt:lpstr>Creación instaladores</vt:lpstr>
      <vt:lpstr>Creación instaladores</vt:lpstr>
      <vt:lpstr>Instaladores Windows</vt:lpstr>
      <vt:lpstr>Instaladores Windows</vt:lpstr>
      <vt:lpstr>Instaladores Windows</vt:lpstr>
      <vt:lpstr>Instaladores macos</vt:lpstr>
      <vt:lpstr>Instaladores linux</vt:lpstr>
      <vt:lpstr>Instalar en macos</vt:lpstr>
      <vt:lpstr>Instalar en macos</vt:lpstr>
      <vt:lpstr>Instalar en LINUX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2024-02-29T13:24:46Z</dcterms:created>
  <dcterms:modified xsi:type="dcterms:W3CDTF">2024-02-29T14:57:47Z</dcterms:modified>
</cp:coreProperties>
</file>